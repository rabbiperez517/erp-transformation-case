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95920" y="137160"/>
            <a:ext cx="3840480" cy="3840480"/>
          </a:xfrm>
          <a:prstGeom prst="ellipse">
            <a:avLst/>
          </a:prstGeom>
          <a:solidFill>
            <a:srgbClr val="263283"/>
          </a:solidFill>
        </p:spPr>
      </p:sp>
      <p:sp>
        <p:nvSpPr>
          <p:cNvPr id="3" name="Shape 1"/>
          <p:cNvSpPr/>
          <p:nvPr/>
        </p:nvSpPr>
        <p:spPr>
          <a:xfrm>
            <a:off x="0" y="3794760"/>
            <a:ext cx="2926080" cy="2926080"/>
          </a:xfrm>
          <a:prstGeom prst="ellipse">
            <a:avLst/>
          </a:prstGeom>
          <a:solidFill>
            <a:srgbClr val="263283"/>
          </a:solidFill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ERP TRANSFORMATION STRATEGY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Phasing, Scope &amp; Data Continuity Recommendations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822960" cy="54864"/>
          </a:xfrm>
          <a:prstGeom prst="rect">
            <a:avLst/>
          </a:prstGeom>
          <a:solidFill>
            <a:srgbClr val="B8860B"/>
          </a:solidFill>
        </p:spPr>
      </p:sp>
      <p:sp>
        <p:nvSpPr>
          <p:cNvPr id="7" name="Text 5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Alpha Manufacturing Group 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08192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Prepared by Rabbi Perez Kwakoa Asiedu, Digital Transformation Project Manager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638251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9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18th July,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fragmented, 20-year-old application landscape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3994150"/>
          </a:xfrm>
          <a:prstGeom prst="roundRect">
            <a:avLst>
              <a:gd name="adj" fmla="val 2564"/>
            </a:avLst>
          </a:prstGeom>
          <a:solidFill>
            <a:srgbClr val="F7F8FC"/>
          </a:solidFill>
        </p:spPr>
      </p:sp>
      <p:sp>
        <p:nvSpPr>
          <p:cNvPr id="5" name="Text 3"/>
          <p:cNvSpPr/>
          <p:nvPr/>
        </p:nvSpPr>
        <p:spPr>
          <a:xfrm>
            <a:off x="548640" y="1828800"/>
            <a:ext cx="35661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B8860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80%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61670" y="3063240"/>
            <a:ext cx="3017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custom orders experienced margin erosion last year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3017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3095" y="3474720"/>
            <a:ext cx="301752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Driven by unreliable labor tracking and no trustworthy contribution margin view.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4754880" y="1645920"/>
            <a:ext cx="2743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ERP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(Finance, MRP,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Procurement)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~80 users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78240" y="16459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8778240" y="1645920"/>
            <a:ext cx="2743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(BOM / ECN)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7490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4754880" y="3749040"/>
            <a:ext cx="2743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CRM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(unintegrated)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78240" y="374904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</p:spPr>
      </p:sp>
      <p:sp>
        <p:nvSpPr>
          <p:cNvPr id="17" name="Text 15"/>
          <p:cNvSpPr/>
          <p:nvPr/>
        </p:nvSpPr>
        <p:spPr>
          <a:xfrm>
            <a:off x="8778240" y="3749040"/>
            <a:ext cx="2743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HRIS / Payroll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(siloed)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0" y="2331720"/>
            <a:ext cx="1280160" cy="0"/>
          </a:xfrm>
          <a:prstGeom prst="line">
            <a:avLst/>
          </a:prstGeom>
          <a:noFill/>
          <a:ln w="31750">
            <a:solidFill>
              <a:srgbClr val="C0392B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315200" y="242316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fragile nightly sync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5486400"/>
            <a:ext cx="67665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Shape 12"/>
          <p:cNvSpPr/>
          <p:nvPr/>
        </p:nvSpPr>
        <p:spPr>
          <a:xfrm>
            <a:off x="6553835" y="5390515"/>
            <a:ext cx="3016250" cy="1317625"/>
          </a:xfrm>
          <a:prstGeom prst="roundRect">
            <a:avLst>
              <a:gd name="adj" fmla="val 5333"/>
            </a:avLst>
          </a:prstGeom>
          <a:solidFill>
            <a:srgbClr val="1E2761"/>
          </a:solidFill>
        </p:spPr>
        <p:txBody>
          <a:bodyPr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Excel spreadsheets manually bridge the gaps between all four systems — introducing data-entry risk and no single source of truth.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transformation must achieve by go-live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</p:spPr>
      </p:sp>
      <p:sp>
        <p:nvSpPr>
          <p:cNvPr id="5" name="Shape 3"/>
          <p:cNvSpPr/>
          <p:nvPr/>
        </p:nvSpPr>
        <p:spPr>
          <a:xfrm>
            <a:off x="777240" y="1819656"/>
            <a:ext cx="457200" cy="457200"/>
          </a:xfrm>
          <a:prstGeom prst="ellipse">
            <a:avLst/>
          </a:prstGeom>
          <a:solidFill>
            <a:srgbClr val="B8860B"/>
          </a:solidFill>
        </p:spPr>
      </p:sp>
      <p:sp>
        <p:nvSpPr>
          <p:cNvPr id="6" name="Text 4"/>
          <p:cNvSpPr/>
          <p:nvPr/>
        </p:nvSpPr>
        <p:spPr>
          <a:xfrm>
            <a:off x="777240" y="181965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09928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 the 80% margin erosion rate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130552"/>
            <a:ext cx="4297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Restore BOM accuracy and reliable order costing.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</p:spPr>
      </p:sp>
      <p:sp>
        <p:nvSpPr>
          <p:cNvPr id="10" name="Shape 8"/>
          <p:cNvSpPr/>
          <p:nvPr/>
        </p:nvSpPr>
        <p:spPr>
          <a:xfrm>
            <a:off x="6446520" y="1819656"/>
            <a:ext cx="457200" cy="457200"/>
          </a:xfrm>
          <a:prstGeom prst="ellipse">
            <a:avLst/>
          </a:prstGeom>
          <a:solidFill>
            <a:srgbClr val="B8860B"/>
          </a:solidFill>
        </p:spPr>
      </p:sp>
      <p:sp>
        <p:nvSpPr>
          <p:cNvPr id="11" name="Text 9"/>
          <p:cNvSpPr/>
          <p:nvPr/>
        </p:nvSpPr>
        <p:spPr>
          <a:xfrm>
            <a:off x="6446520" y="181965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1709928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Establish reliable labor tracking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130552"/>
            <a:ext cx="4297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 a trustworthy, comprehensive contribution margin view.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</p:spPr>
      </p:sp>
      <p:sp>
        <p:nvSpPr>
          <p:cNvPr id="15" name="Shape 13"/>
          <p:cNvSpPr/>
          <p:nvPr/>
        </p:nvSpPr>
        <p:spPr>
          <a:xfrm>
            <a:off x="777240" y="3419856"/>
            <a:ext cx="457200" cy="457200"/>
          </a:xfrm>
          <a:prstGeom prst="ellipse">
            <a:avLst/>
          </a:prstGeom>
          <a:solidFill>
            <a:srgbClr val="B8860B"/>
          </a:solidFill>
        </p:spPr>
      </p:sp>
      <p:sp>
        <p:nvSpPr>
          <p:cNvPr id="16" name="Text 14"/>
          <p:cNvSpPr/>
          <p:nvPr/>
        </p:nvSpPr>
        <p:spPr>
          <a:xfrm>
            <a:off x="777240" y="341985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310128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Eliminate BOM/ECN sync failures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730752"/>
            <a:ext cx="4297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the root cause of current manufacturing delays.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2004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</p:spPr>
      </p:sp>
      <p:sp>
        <p:nvSpPr>
          <p:cNvPr id="20" name="Shape 18"/>
          <p:cNvSpPr/>
          <p:nvPr/>
        </p:nvSpPr>
        <p:spPr>
          <a:xfrm>
            <a:off x="6446520" y="3419856"/>
            <a:ext cx="457200" cy="457200"/>
          </a:xfrm>
          <a:prstGeom prst="ellipse">
            <a:avLst/>
          </a:prstGeom>
          <a:solidFill>
            <a:srgbClr val="B8860B"/>
          </a:solidFill>
        </p:spPr>
      </p:sp>
      <p:sp>
        <p:nvSpPr>
          <p:cNvPr id="21" name="Text 19"/>
          <p:cNvSpPr/>
          <p:nvPr/>
        </p:nvSpPr>
        <p:spPr>
          <a:xfrm>
            <a:off x="6446520" y="341985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3310128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Rationalize the application landscape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86600" y="3730752"/>
            <a:ext cx="4297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Strengthen data governance across Finance, Manufacturing, Procurement, CRM, and HRIS.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0060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</p:spPr>
      </p:sp>
      <p:sp>
        <p:nvSpPr>
          <p:cNvPr id="25" name="Shape 23"/>
          <p:cNvSpPr/>
          <p:nvPr/>
        </p:nvSpPr>
        <p:spPr>
          <a:xfrm>
            <a:off x="777240" y="5020056"/>
            <a:ext cx="457200" cy="457200"/>
          </a:xfrm>
          <a:prstGeom prst="ellipse">
            <a:avLst/>
          </a:prstGeom>
          <a:solidFill>
            <a:srgbClr val="B8860B"/>
          </a:solidFill>
        </p:spPr>
      </p:sp>
      <p:sp>
        <p:nvSpPr>
          <p:cNvPr id="26" name="Text 24"/>
          <p:cNvSpPr/>
          <p:nvPr/>
        </p:nvSpPr>
        <p:spPr>
          <a:xfrm>
            <a:off x="777240" y="502005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4910328"/>
            <a:ext cx="42976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 within 12 months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5330952"/>
            <a:ext cx="4297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disruption to day-to-day operations.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Phasing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Function-first sequencing over a 12-month program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25400">
            <a:solidFill>
              <a:srgbClr val="D8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2788920"/>
            <a:ext cx="2377440" cy="3291840"/>
          </a:xfrm>
          <a:prstGeom prst="roundRect">
            <a:avLst>
              <a:gd name="adj" fmla="val 3077"/>
            </a:avLst>
          </a:prstGeom>
          <a:solidFill>
            <a:srgbClr val="F7F8FC"/>
          </a:solidFill>
        </p:spPr>
      </p:sp>
      <p:sp>
        <p:nvSpPr>
          <p:cNvPr id="8" name="Text 6"/>
          <p:cNvSpPr/>
          <p:nvPr/>
        </p:nvSpPr>
        <p:spPr>
          <a:xfrm>
            <a:off x="502920" y="2926080"/>
            <a:ext cx="21945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Manufacturing/MRP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 Finance Foundation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3840480"/>
            <a:ext cx="219456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 of Accounts, General Ledger, Cost Accounting: fixes fragile BOM/ECN sync at its root.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0" y="210312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3566160" y="21031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063240" y="2788920"/>
            <a:ext cx="2377440" cy="3291840"/>
          </a:xfrm>
          <a:prstGeom prst="roundRect">
            <a:avLst>
              <a:gd name="adj" fmla="val 3077"/>
            </a:avLst>
          </a:prstGeom>
          <a:solidFill>
            <a:srgbClr val="CADCFC"/>
          </a:solidFill>
        </p:spPr>
      </p:sp>
      <p:sp>
        <p:nvSpPr>
          <p:cNvPr id="13" name="Text 11"/>
          <p:cNvSpPr/>
          <p:nvPr/>
        </p:nvSpPr>
        <p:spPr>
          <a:xfrm>
            <a:off x="3154680" y="2926080"/>
            <a:ext cx="21945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Procurement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154680" y="3840480"/>
            <a:ext cx="219456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against trustworthy BOM and cost data instead of fragmented spreadsheets.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6217920" y="21031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715000" y="2788920"/>
            <a:ext cx="2377440" cy="3291840"/>
          </a:xfrm>
          <a:prstGeom prst="roundRect">
            <a:avLst>
              <a:gd name="adj" fmla="val 3077"/>
            </a:avLst>
          </a:prstGeom>
          <a:solidFill>
            <a:srgbClr val="F7F8FC"/>
          </a:solidFill>
        </p:spPr>
      </p:sp>
      <p:sp>
        <p:nvSpPr>
          <p:cNvPr id="18" name="Text 16"/>
          <p:cNvSpPr/>
          <p:nvPr/>
        </p:nvSpPr>
        <p:spPr>
          <a:xfrm>
            <a:off x="5806440" y="2926080"/>
            <a:ext cx="21945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Budgeting / Reporting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 BI Layer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806440" y="3840480"/>
            <a:ext cx="219456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Ships once Manufacturing, Finance, and Procurement data is proven stable.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69680" y="210312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8869680" y="21031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66760" y="2788920"/>
            <a:ext cx="2377440" cy="3291840"/>
          </a:xfrm>
          <a:prstGeom prst="roundRect">
            <a:avLst>
              <a:gd name="adj" fmla="val 3077"/>
            </a:avLst>
          </a:prstGeom>
          <a:solidFill>
            <a:srgbClr val="CADCFC"/>
          </a:solidFill>
        </p:spPr>
      </p:sp>
      <p:sp>
        <p:nvSpPr>
          <p:cNvPr id="23" name="Text 21"/>
          <p:cNvSpPr/>
          <p:nvPr/>
        </p:nvSpPr>
        <p:spPr>
          <a:xfrm>
            <a:off x="8458200" y="2926080"/>
            <a:ext cx="21945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AP/AR +</a:t>
            </a:r>
            <a:endParaRPr lang="en-US" sz="1250" dirty="0"/>
          </a:p>
          <a:p>
            <a:pPr marL="0" indent="0" algn="l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 Close/Consolidation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58200" y="3840480"/>
            <a:ext cx="219456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out once the cost/reporting foundation is proven; legacy runs in parallel until ready.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Location Sequencing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Prove it at one site before scaling to all five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3291840" cy="2743200"/>
          </a:xfrm>
          <a:prstGeom prst="roundRect">
            <a:avLst>
              <a:gd name="adj" fmla="val 3333"/>
            </a:avLst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914400" y="233172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6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32918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Lowest-Risk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Pilot Site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3611880"/>
            <a:ext cx="27432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Prove feasibility safely; surface issues before they affect the wider business.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3246120"/>
            <a:ext cx="1005840" cy="457200"/>
          </a:xfrm>
          <a:prstGeom prst="rightArrow">
            <a:avLst/>
          </a:prstGeom>
          <a:solidFill>
            <a:srgbClr val="B8860B"/>
          </a:solidFill>
        </p:spPr>
      </p:sp>
      <p:sp>
        <p:nvSpPr>
          <p:cNvPr id="9" name="Text 7"/>
          <p:cNvSpPr/>
          <p:nvPr/>
        </p:nvSpPr>
        <p:spPr>
          <a:xfrm>
            <a:off x="4343400" y="3749040"/>
            <a:ext cx="1188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validated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182880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 — Remaining 4 Locations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210312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CADCFC"/>
          </a:solidFill>
        </p:spPr>
      </p:sp>
      <p:sp>
        <p:nvSpPr>
          <p:cNvPr id="12" name="Text 10"/>
          <p:cNvSpPr/>
          <p:nvPr/>
        </p:nvSpPr>
        <p:spPr>
          <a:xfrm>
            <a:off x="5760720" y="2103120"/>
            <a:ext cx="141732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Site 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0" y="210312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CADCFC"/>
          </a:solidFill>
        </p:spPr>
      </p:sp>
      <p:sp>
        <p:nvSpPr>
          <p:cNvPr id="14" name="Text 12"/>
          <p:cNvSpPr/>
          <p:nvPr/>
        </p:nvSpPr>
        <p:spPr>
          <a:xfrm>
            <a:off x="7315200" y="2103120"/>
            <a:ext cx="141732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Site 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60720" y="365760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CADCFC"/>
          </a:solidFill>
        </p:spPr>
      </p:sp>
      <p:sp>
        <p:nvSpPr>
          <p:cNvPr id="16" name="Text 14"/>
          <p:cNvSpPr/>
          <p:nvPr/>
        </p:nvSpPr>
        <p:spPr>
          <a:xfrm>
            <a:off x="5760720" y="3657600"/>
            <a:ext cx="141732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Site 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0" y="3657600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CADCFC"/>
          </a:solidFill>
        </p:spPr>
      </p:sp>
      <p:sp>
        <p:nvSpPr>
          <p:cNvPr id="18" name="Text 16"/>
          <p:cNvSpPr/>
          <p:nvPr/>
        </p:nvSpPr>
        <p:spPr>
          <a:xfrm>
            <a:off x="7315200" y="3657600"/>
            <a:ext cx="141732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Site 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0" y="5257800"/>
            <a:ext cx="5394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 halts immediately if the pilot reveals unresolved issues fixes come before further rollout.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Top Risks &amp; Mitigations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1097280"/>
          <a:ext cx="11064240" cy="576072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Risk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Mitigation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BOM/data migration integrity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BOM data from the legacy ERP system will be thoroughly analyzed and cleaned. So only clean data is sent to the new system.</a:t>
                      </a:r>
                      <a:endParaRPr lang="en-US" alt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Parallel-run complexity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Set a strict deadline for how long the two systems will be running in parallel so it doesn’t end up being permanent. There should also be regular check-ins on both systems to ensure they are up-to-date. </a:t>
                      </a:r>
                      <a:endParaRPr lang="en-US" alt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Scope creep from customization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Change Control Board approves only requests with justified business impact.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User adoption of the new system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Structured training and phased rollout to build confidence.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Multi-entity / 5-site complexity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Validate the data model at the pilot site before scaling further.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Day-1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goes live immediately vs. what deliberately waits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86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GO-LIVE DAY 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365760" cy="365760"/>
          </a:xfrm>
          <a:prstGeom prst="ellipse">
            <a:avLst/>
          </a:prstGeom>
          <a:solidFill>
            <a:srgbClr val="B8860B"/>
          </a:solidFill>
        </p:spPr>
      </p:sp>
      <p:sp>
        <p:nvSpPr>
          <p:cNvPr id="7" name="Text 5"/>
          <p:cNvSpPr/>
          <p:nvPr/>
        </p:nvSpPr>
        <p:spPr>
          <a:xfrm>
            <a:off x="868680" y="233172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258568"/>
            <a:ext cx="4297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 of Accounts / General Ledger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108960"/>
            <a:ext cx="365760" cy="365760"/>
          </a:xfrm>
          <a:prstGeom prst="ellipse">
            <a:avLst/>
          </a:prstGeom>
          <a:solidFill>
            <a:srgbClr val="B8860B"/>
          </a:solidFill>
        </p:spPr>
      </p:sp>
      <p:sp>
        <p:nvSpPr>
          <p:cNvPr id="10" name="Text 8"/>
          <p:cNvSpPr/>
          <p:nvPr/>
        </p:nvSpPr>
        <p:spPr>
          <a:xfrm>
            <a:off x="868680" y="310896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035808"/>
            <a:ext cx="4297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BOM/ECN accuracy (Manufacturing/MRP)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3886200"/>
            <a:ext cx="365760" cy="365760"/>
          </a:xfrm>
          <a:prstGeom prst="ellipse">
            <a:avLst/>
          </a:prstGeom>
          <a:solidFill>
            <a:srgbClr val="B8860B"/>
          </a:solidFill>
        </p:spPr>
      </p:sp>
      <p:sp>
        <p:nvSpPr>
          <p:cNvPr id="13" name="Text 11"/>
          <p:cNvSpPr/>
          <p:nvPr/>
        </p:nvSpPr>
        <p:spPr>
          <a:xfrm>
            <a:off x="868680" y="388620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813048"/>
            <a:ext cx="42976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Procurement sourcing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5074920"/>
            <a:ext cx="48463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BOM/ECN accuracy is non-negotiable because without it, manufacturing cannot reliably know what to build, at what cost.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7F8FC"/>
          </a:solidFill>
        </p:spPr>
      </p:sp>
      <p:sp>
        <p:nvSpPr>
          <p:cNvPr id="17" name="Text 15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DEFERRED TO LATER PHASES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37960" y="2331720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9" name="Text 17"/>
          <p:cNvSpPr/>
          <p:nvPr/>
        </p:nvSpPr>
        <p:spPr>
          <a:xfrm>
            <a:off x="6537960" y="233172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258568"/>
            <a:ext cx="4297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AP automation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37960" y="2990088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20"/>
          <p:cNvSpPr/>
          <p:nvPr/>
        </p:nvSpPr>
        <p:spPr>
          <a:xfrm>
            <a:off x="6537960" y="2990088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2916936"/>
            <a:ext cx="4297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CRM integration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537960" y="3648456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5" name="Text 23"/>
          <p:cNvSpPr/>
          <p:nvPr/>
        </p:nvSpPr>
        <p:spPr>
          <a:xfrm>
            <a:off x="6537960" y="3648456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40880" y="3575304"/>
            <a:ext cx="4297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HRIS/Payroll integration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537960" y="4306824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8" name="Text 26"/>
          <p:cNvSpPr/>
          <p:nvPr/>
        </p:nvSpPr>
        <p:spPr>
          <a:xfrm>
            <a:off x="6537960" y="4306824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40880" y="4233672"/>
            <a:ext cx="42976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BI/reporting dashboards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92240" y="5257800"/>
            <a:ext cx="48463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CRM and HRIS/Payroll already run independently so deferring integration introduces no operational risk.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&amp; Reporting Continuity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Protecting visibility and trust throughout the transition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B8860B"/>
          </a:solidFill>
        </p:spPr>
      </p:sp>
      <p:sp>
        <p:nvSpPr>
          <p:cNvPr id="5" name="Text 3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1463040"/>
            <a:ext cx="1037844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</p:spPr>
      </p:sp>
      <p:sp>
        <p:nvSpPr>
          <p:cNvPr id="7" name="Text 5"/>
          <p:cNvSpPr/>
          <p:nvPr/>
        </p:nvSpPr>
        <p:spPr>
          <a:xfrm>
            <a:off x="1508760" y="1581912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Migration Exclusions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965960"/>
            <a:ext cx="9875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open/active records migrate live. Closed records stay accessible via a read-only legacy archive  preserving audit access without slowing the timeline.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B8860B"/>
          </a:solidFill>
        </p:spPr>
      </p:sp>
      <p:sp>
        <p:nvSpPr>
          <p:cNvPr id="10" name="Text 8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234440" y="3063240"/>
            <a:ext cx="103784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</p:spPr>
      </p:sp>
      <p:sp>
        <p:nvSpPr>
          <p:cNvPr id="12" name="Text 10"/>
          <p:cNvSpPr/>
          <p:nvPr/>
        </p:nvSpPr>
        <p:spPr>
          <a:xfrm>
            <a:off x="1508760" y="3182112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Reporting Bridge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566160"/>
            <a:ext cx="9875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1200" dirty="0"/>
              <a:t>AMG will maintain a temporary reporting bridge that will pull data from the both ERP systems so the exectives always have something reliable to look at. A simple excel sheet will be used during this transition period for reporting which will be manually maintained by a worker until BI layer is ready.</a:t>
            </a:r>
            <a:endParaRPr lang="en-US" alt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rgbClr val="B8860B"/>
          </a:solidFill>
        </p:spPr>
      </p:sp>
      <p:sp>
        <p:nvSpPr>
          <p:cNvPr id="15" name="Text 13"/>
          <p:cNvSpPr/>
          <p:nvPr/>
        </p:nvSpPr>
        <p:spPr>
          <a:xfrm>
            <a:off x="548640" y="48006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34440" y="4663440"/>
            <a:ext cx="1037844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</p:spPr>
      </p:sp>
      <p:sp>
        <p:nvSpPr>
          <p:cNvPr id="17" name="Text 15"/>
          <p:cNvSpPr/>
          <p:nvPr/>
        </p:nvSpPr>
        <p:spPr>
          <a:xfrm>
            <a:off x="1508760" y="4782312"/>
            <a:ext cx="9875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Month-End Parallel Close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5166360"/>
            <a:ext cx="9875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least one full close cycle runs in both systems simultaneously and is reconciled before the new system is trusted as the system of record.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360"/>
            <a:ext cx="4114800" cy="4114800"/>
          </a:xfrm>
          <a:prstGeom prst="ellipse">
            <a:avLst/>
          </a:prstGeom>
          <a:solidFill>
            <a:srgbClr val="263283"/>
          </a:solidFill>
        </p:spPr>
      </p:sp>
      <p:sp>
        <p:nvSpPr>
          <p:cNvPr id="3" name="Text 1"/>
          <p:cNvSpPr/>
          <p:nvPr/>
        </p:nvSpPr>
        <p:spPr>
          <a:xfrm>
            <a:off x="822960" y="1920240"/>
            <a:ext cx="10058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Recommendation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697480"/>
            <a:ext cx="822960" cy="54864"/>
          </a:xfrm>
          <a:prstGeom prst="rect">
            <a:avLst/>
          </a:prstGeom>
          <a:solidFill>
            <a:srgbClr val="B8860B"/>
          </a:solidFill>
        </p:spPr>
      </p:sp>
      <p:sp>
        <p:nvSpPr>
          <p:cNvPr id="5" name="Text 3"/>
          <p:cNvSpPr/>
          <p:nvPr/>
        </p:nvSpPr>
        <p:spPr>
          <a:xfrm>
            <a:off x="822960" y="3063240"/>
            <a:ext cx="98755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recommend the Executive Team approve this phased approach enabling the program to proceed toward the 12-month go-live target while protecting day-to-day operations and restoring the margin transparency the Board has requested.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4235</Words>
  <Application>WPS Presentation</Application>
  <PresentationFormat>On-screen Show (16:9)</PresentationFormat>
  <Paragraphs>235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Rabbi Perez</cp:lastModifiedBy>
  <cp:revision>2</cp:revision>
  <dcterms:created xsi:type="dcterms:W3CDTF">2026-07-18T21:56:00Z</dcterms:created>
  <dcterms:modified xsi:type="dcterms:W3CDTF">2026-07-18T22:36:00Z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3A10AC0FDAFA4A739A8CB71BF4AECB94_13</vt:lpwstr>
  </property>
</Properties>
</file>